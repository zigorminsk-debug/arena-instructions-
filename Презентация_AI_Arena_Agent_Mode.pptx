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ziv@csl.by" TargetMode="External"/><Relationship Id="rId3" Type="http://schemas.openxmlformats.org/officeDocument/2006/relationships/hyperlink" Target="http://csl.by" TargetMode="External"/><Relationship Id="rId4" Type="http://schemas.openxmlformats.org/officeDocument/2006/relationships/hyperlink" Target="tel:+375293371412" TargetMode="External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01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1051560"/>
            <a:ext cx="109728" cy="2377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1097280"/>
            <a:ext cx="7772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[ ARENA_AI // AGENT_MODE // OVERVIEW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1554480"/>
            <a:ext cx="7772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E7EB"/>
                </a:solidFill>
                <a:latin typeface="Segoe UI"/>
              </a:rPr>
              <a:t>AI Arena: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2331720"/>
            <a:ext cx="69494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2D3EE"/>
                </a:solidFill>
                <a:latin typeface="Segoe UI"/>
              </a:rPr>
              <a:t>возможности Agent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3200400"/>
            <a:ext cx="68580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4A3B8"/>
                </a:solidFill>
                <a:latin typeface="Segoe UI"/>
              </a:rPr>
              <a:t>Что умеет агент, как устроены инструменты и подключения —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94A3B8"/>
                </a:solidFill>
                <a:latin typeface="Segoe UI"/>
              </a:rPr>
              <a:t>и какой результат вы получаете в конце.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" y="4114800"/>
            <a:ext cx="6949440" cy="1371600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101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4297680"/>
            <a:ext cx="658368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&gt; agent.run(task)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  tools: [web_search, bash, files, images, github]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  result: docs // tables // prototypes // PR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onsolas"/>
              </a:rPr>
              <a:t>Источники: help.arena.ai · блог Arena · docs.github.com · 8 октября 2026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55864" y="1837944"/>
            <a:ext cx="3730752" cy="1248920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55864" y="1837944"/>
            <a:ext cx="3730752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arena_worksp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20240"/>
            <a:ext cx="3566160" cy="10843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055864" y="3132584"/>
            <a:ext cx="373075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workspace://session_files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02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01 · ЧТО ТАКОЕ AGENT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Одна модель делает задачу от начала и до конца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658368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Не чат, а рабочий процесс</a:t>
            </a:r>
            <a:r>
              <a:rPr sz="1500">
                <a:solidFill>
                  <a:srgbClr val="94A3B8"/>
                </a:solidFill>
                <a:latin typeface="Segoe UI"/>
              </a:rPr>
              <a:t> — цель формулируете один раз — агент сам строит план и выполняет шагами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Инструменты из коробки</a:t>
            </a:r>
            <a:r>
              <a:rPr sz="1500">
                <a:solidFill>
                  <a:srgbClr val="94A3B8"/>
                </a:solidFill>
                <a:latin typeface="Segoe UI"/>
              </a:rPr>
              <a:t> — поиск в сети, песочница Linux, файлы, генерация картинок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Контекст сохраняется</a:t>
            </a:r>
            <a:r>
              <a:rPr sz="1500">
                <a:solidFill>
                  <a:srgbClr val="94A3B8"/>
                </a:solidFill>
                <a:latin typeface="Segoe UI"/>
              </a:rPr>
              <a:t> — «переделай таблицу», «добавь раздел» продолжаются с того же места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Обратная связь в конце</a:t>
            </a:r>
            <a:r>
              <a:rPr sz="1500">
                <a:solidFill>
                  <a:srgbClr val="94A3B8"/>
                </a:solidFill>
                <a:latin typeface="Segoe UI"/>
              </a:rPr>
              <a:t> — Yes / No / Keep working — оценка и продолжение работы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0104" y="1929384"/>
            <a:ext cx="4096511" cy="1303699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90104" y="1929384"/>
            <a:ext cx="4096511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ena_feed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011680"/>
            <a:ext cx="3931920" cy="11391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690104" y="3278803"/>
            <a:ext cx="4096511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feedback://was_this_task_successful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03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02 · ИНСТРУМЕНТЫ АГЕНТА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Что агент делает руками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1097280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Поиск и чтение страниц</a:t>
            </a:r>
            <a:r>
              <a:rPr sz="1500">
                <a:solidFill>
                  <a:srgbClr val="94A3B8"/>
                </a:solidFill>
                <a:latin typeface="Segoe UI"/>
              </a:rPr>
              <a:t> — актуальные данные из интернета, сайты и документы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Песочница bash</a:t>
            </a:r>
            <a:r>
              <a:rPr sz="1500">
                <a:solidFill>
                  <a:srgbClr val="94A3B8"/>
                </a:solidFill>
                <a:latin typeface="Segoe UI"/>
              </a:rPr>
              <a:t> — пакеты, скрипты, тесты, серверы; проверяет и чинит ошибки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Файлы</a:t>
            </a:r>
            <a:r>
              <a:rPr sz="1500">
                <a:solidFill>
                  <a:srgbClr val="94A3B8"/>
                </a:solidFill>
                <a:latin typeface="Segoe UI"/>
              </a:rPr>
              <a:t> — Word- и Excel-совместимые отчёты, Markdown, CSV, HTML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Генерация изображений</a:t>
            </a:r>
            <a:r>
              <a:rPr sz="1500">
                <a:solidFill>
                  <a:srgbClr val="94A3B8"/>
                </a:solidFill>
                <a:latin typeface="Segoe UI"/>
              </a:rPr>
              <a:t> — иллюстрации и макеты по запросу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Уточняющие вопросы</a:t>
            </a:r>
            <a:r>
              <a:rPr sz="1500">
                <a:solidFill>
                  <a:srgbClr val="94A3B8"/>
                </a:solidFill>
                <a:latin typeface="Segoe UI"/>
              </a:rPr>
              <a:t> — если задача неоднозначна — спросит, а не додумает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Загрузка ваших файлов</a:t>
            </a:r>
            <a:r>
              <a:rPr sz="1500">
                <a:solidFill>
                  <a:srgbClr val="94A3B8"/>
                </a:solidFill>
                <a:latin typeface="Segoe UI"/>
              </a:rPr>
              <a:t> — Add files: PNG, PDF, TXT, MD, CSV, HTML, CSS, JS,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04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03 · РАБОЧЕЕ ПРОСТРАНСТВО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Всё, что создано, — перед глазами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603504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Workspace</a:t>
            </a:r>
            <a:r>
              <a:rPr sz="1500">
                <a:solidFill>
                  <a:srgbClr val="94A3B8"/>
                </a:solidFill>
                <a:latin typeface="Segoe UI"/>
              </a:rPr>
              <a:t> — панель справа: файлы сессии, предпросмотр, скачивание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Diff</a:t>
            </a:r>
            <a:r>
              <a:rPr sz="1500">
                <a:solidFill>
                  <a:srgbClr val="94A3B8"/>
                </a:solidFill>
                <a:latin typeface="Segoe UI"/>
              </a:rPr>
              <a:t> — изменения построчно: последний ход или вся ветка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Checks</a:t>
            </a:r>
            <a:r>
              <a:rPr sz="1500">
                <a:solidFill>
                  <a:srgbClr val="94A3B8"/>
                </a:solidFill>
                <a:latin typeface="Segoe UI"/>
              </a:rPr>
              <a:t> — статус автопроверок: проходит / упало / в процессе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Превью</a:t>
            </a:r>
            <a:r>
              <a:rPr sz="1500">
                <a:solidFill>
                  <a:srgbClr val="94A3B8"/>
                </a:solidFill>
                <a:latin typeface="Segoe UI"/>
              </a:rPr>
              <a:t> — живой просмотр сервера, запущенного в песочнице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Без GitHub — ZIP</a:t>
            </a:r>
            <a:r>
              <a:rPr sz="1500">
                <a:solidFill>
                  <a:srgbClr val="94A3B8"/>
                </a:solidFill>
                <a:latin typeface="Segoe UI"/>
              </a:rPr>
              <a:t> — кнопка Download скачивает всё архивом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0024" y="1837944"/>
            <a:ext cx="4736592" cy="1554756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50024" y="1837944"/>
            <a:ext cx="4736592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ena_worksp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920240"/>
            <a:ext cx="4572000" cy="13901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050024" y="3438420"/>
            <a:ext cx="473659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workspace://arena_expert_*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05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04 · 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Результат уходит в ваш репозиторий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621792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Подключение в один клик</a:t>
            </a:r>
            <a:r>
              <a:rPr sz="1500">
                <a:solidFill>
                  <a:srgbClr val="94A3B8"/>
                </a:solidFill>
                <a:latin typeface="Segoe UI"/>
              </a:rPr>
              <a:t> — OAuth и выбор репозиториев — Manage repositories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Агент работает в копии</a:t>
            </a:r>
            <a:r>
              <a:rPr sz="1500">
                <a:solidFill>
                  <a:srgbClr val="94A3B8"/>
                </a:solidFill>
                <a:latin typeface="Segoe UI"/>
              </a:rPr>
              <a:t> — клон в песочнице; коммиты и Pull Request — сам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Ревью и мерж — ваши</a:t>
            </a:r>
            <a:r>
              <a:rPr sz="1500">
                <a:solidFill>
                  <a:srgbClr val="94A3B8"/>
                </a:solidFill>
                <a:latin typeface="Segoe UI"/>
              </a:rPr>
              <a:t> — Diff и Checks помогают принять работу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Хранилище документов</a:t>
            </a:r>
            <a:r>
              <a:rPr sz="1500">
                <a:solidFill>
                  <a:srgbClr val="94A3B8"/>
                </a:solidFill>
                <a:latin typeface="Segoe UI"/>
              </a:rPr>
              <a:t> — папки shablony / activity / tp, образцы Word и Excel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Загрузка образцов</a:t>
            </a:r>
            <a:r>
              <a:rPr sz="1500">
                <a:solidFill>
                  <a:srgbClr val="94A3B8"/>
                </a:solidFill>
                <a:latin typeface="Segoe UI"/>
              </a:rPr>
              <a:t> — Add file → Upload files прямо в браузере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344" y="1746504"/>
            <a:ext cx="4462272" cy="2814981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24344" y="1746504"/>
            <a:ext cx="4462272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h_mer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828800"/>
            <a:ext cx="4297680" cy="26503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24344" y="4607205"/>
            <a:ext cx="446227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github://pull_request → 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06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05 · ПОДКЛЮЧЕНИЯ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Сервисы, к которым агент дотягивается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676656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GitHub</a:t>
            </a:r>
            <a:r>
              <a:rPr sz="1500">
                <a:solidFill>
                  <a:srgbClr val="94A3B8"/>
                </a:solidFill>
                <a:latin typeface="Segoe UI"/>
              </a:rPr>
              <a:t> — код, репозитории, PR — главная связка для документов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Google и другие</a:t>
            </a:r>
            <a:r>
              <a:rPr sz="1500">
                <a:solidFill>
                  <a:srgbClr val="94A3B8"/>
                </a:solidFill>
                <a:latin typeface="Segoe UI"/>
              </a:rPr>
              <a:t> — документы, файлы, почта, календарь — набор по аккаунту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Тумблер на чат</a:t>
            </a:r>
            <a:r>
              <a:rPr sz="1500">
                <a:solidFill>
                  <a:srgbClr val="94A3B8"/>
                </a:solidFill>
                <a:latin typeface="Segoe UI"/>
              </a:rPr>
              <a:t> — подключение включается отдельно для разговора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От вашего имени</a:t>
            </a:r>
            <a:r>
              <a:rPr sz="1500">
                <a:solidFill>
                  <a:srgbClr val="94A3B8"/>
                </a:solidFill>
                <a:latin typeface="Segoe UI"/>
              </a:rPr>
              <a:t> — агент видит и делает только разрешённое вам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Отключение обратимо</a:t>
            </a:r>
            <a:r>
              <a:rPr sz="1500">
                <a:solidFill>
                  <a:srgbClr val="94A3B8"/>
                </a:solidFill>
                <a:latin typeface="Segoe UI"/>
              </a:rPr>
              <a:t> — повторное включение — реавторизация, ресурсы сохраняются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81544" y="1837944"/>
            <a:ext cx="4005072" cy="2266476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81544" y="1837944"/>
            <a:ext cx="4005072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ena_tog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920240"/>
            <a:ext cx="3840480" cy="21018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781544" y="4150140"/>
            <a:ext cx="400507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connections://github = 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07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06 · РЕЗУЛЬТАТ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Что вы получаете в конце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1097280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Готовые документы</a:t>
            </a:r>
            <a:r>
              <a:rPr sz="1500">
                <a:solidFill>
                  <a:srgbClr val="94A3B8"/>
                </a:solidFill>
                <a:latin typeface="Segoe UI"/>
              </a:rPr>
              <a:t> — отчёты, справки, письма по вашим образцам — Word и Excel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Таблицы и аналитика</a:t>
            </a:r>
            <a:r>
              <a:rPr sz="1500">
                <a:solidFill>
                  <a:srgbClr val="94A3B8"/>
                </a:solidFill>
                <a:latin typeface="Segoe UI"/>
              </a:rPr>
              <a:t> — агрегаты, топ-10, дубли и пропуски, графики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Прототипы</a:t>
            </a:r>
            <a:r>
              <a:rPr sz="1500">
                <a:solidFill>
                  <a:srgbClr val="94A3B8"/>
                </a:solidFill>
                <a:latin typeface="Segoe UI"/>
              </a:rPr>
              <a:t> — сайт или приложение с живым превью из песочницы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Разбор входящих файлов</a:t>
            </a:r>
            <a:r>
              <a:rPr sz="1500">
                <a:solidFill>
                  <a:srgbClr val="94A3B8"/>
                </a:solidFill>
                <a:latin typeface="Segoe UI"/>
              </a:rPr>
              <a:t> — выжимки из PDF, сравнительные таблицы документов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Доставка</a:t>
            </a:r>
            <a:r>
              <a:rPr sz="1500">
                <a:solidFill>
                  <a:srgbClr val="94A3B8"/>
                </a:solidFill>
                <a:latin typeface="Segoe UI"/>
              </a:rPr>
              <a:t> — Pull Request в репозиторий или ZIP из Workspace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Источники</a:t>
            </a:r>
            <a:r>
              <a:rPr sz="1500">
                <a:solidFill>
                  <a:srgbClr val="94A3B8"/>
                </a:solidFill>
                <a:latin typeface="Segoe UI"/>
              </a:rPr>
              <a:t> — ссылки и даты рядом с утверждениями — по запросу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08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07 · ПРАВИЛА БЕЗ ОПАСНОСТИ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Три минуты, которые экономят час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1097280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Забирайте результат</a:t>
            </a:r>
            <a:r>
              <a:rPr sz="1500">
                <a:solidFill>
                  <a:srgbClr val="94A3B8"/>
                </a:solidFill>
                <a:latin typeface="Segoe UI"/>
              </a:rPr>
              <a:t> — оставшееся в песочнице — скачать или отправить в репозиторий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После мержа пуша нет</a:t>
            </a:r>
            <a:r>
              <a:rPr sz="1500">
                <a:solidFill>
                  <a:srgbClr val="94A3B8"/>
                </a:solidFill>
                <a:latin typeface="Segoe UI"/>
              </a:rPr>
              <a:t> — смержили или закрыли PR — сессия больше не отправляет файлы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Один PR на сессию</a:t>
            </a:r>
            <a:r>
              <a:rPr sz="1500">
                <a:solidFill>
                  <a:srgbClr val="94A3B8"/>
                </a:solidFill>
                <a:latin typeface="Segoe UI"/>
              </a:rPr>
              <a:t> — крупную работу разбивайте на несколько чатов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Секреты — не в промпт</a:t>
            </a:r>
            <a:r>
              <a:rPr sz="1500">
                <a:solidFill>
                  <a:srgbClr val="94A3B8"/>
                </a:solidFill>
                <a:latin typeface="Segoe UI"/>
              </a:rPr>
              <a:t> — токены и пароли не вставляйте в текст задачи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Лимиты</a:t>
            </a:r>
            <a:r>
              <a:rPr sz="1500">
                <a:solidFill>
                  <a:srgbClr val="94A3B8"/>
                </a:solidFill>
                <a:latin typeface="Segoe UI"/>
              </a:rPr>
              <a:t> — Battle Mode в Text/Code Arena не тратит дневной баланс Agent Mode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074920"/>
            <a:ext cx="10908792" cy="1051560"/>
          </a:xfrm>
          <a:prstGeom prst="roundRect">
            <a:avLst/>
          </a:prstGeom>
          <a:solidFill>
            <a:srgbClr val="1A0B10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230368"/>
            <a:ext cx="104241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87171"/>
                </a:solidFill>
                <a:latin typeface="Consolas"/>
              </a:rPr>
              <a:t>[!] ГЛАВНАЯ ЛОВУШКА: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Segoe UI"/>
              </a:rPr>
              <a:t>файлы, созданные после мержа PR, нельзя ни запушить, ни скачать, ни перенести.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Сначала убедитесь, что всё отправлено, — потом мержите.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4114800" cy="182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2880" y="320040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50624" y="320040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0" y="6336792"/>
            <a:ext cx="256032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0624" y="6080759"/>
            <a:ext cx="18288" cy="2560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1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3894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4976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1008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9104" y="274320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2911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894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94976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51008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63072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104" y="475488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1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4976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1008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3072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19104" y="676656"/>
            <a:ext cx="32004" cy="32004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ARENA.AI // AGENT_MODE // INSTRUKCIJA v1.7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22D3EE"/>
                </a:solidFill>
                <a:latin typeface="Consolas"/>
              </a:rPr>
              <a:t>09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98755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onsolas"/>
              </a:rPr>
              <a:t>разработчик: Захаревич Игорь Владимирович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2"/>
              </a:rPr>
              <a:t>ziv@csl.by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3"/>
              </a:rPr>
              <a:t>csl.by</a:t>
            </a:r>
            <a:r>
              <a:rPr sz="900">
                <a:solidFill>
                  <a:srgbClr val="475569"/>
                </a:solidFill>
                <a:latin typeface="Consolas"/>
              </a:rPr>
              <a:t>  ·  </a:t>
            </a:r>
            <a:r>
              <a:rPr sz="900">
                <a:solidFill>
                  <a:srgbClr val="22D3EE"/>
                </a:solidFill>
                <a:latin typeface="Consolas"/>
                <a:hlinkClick r:id="rId4"/>
              </a:rPr>
              <a:t>+375 29 337-14-12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// 08 · КАК НАЧАТЬ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5E7EB"/>
                </a:solidFill>
                <a:latin typeface="Segoe UI"/>
              </a:rPr>
              <a:t>Четыре шага до первого результата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1389888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1389888"/>
            <a:ext cx="41148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70632" y="1389888"/>
            <a:ext cx="146304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1783080"/>
            <a:ext cx="621792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1 · Откройте arena.ai/agent</a:t>
            </a:r>
            <a:r>
              <a:rPr sz="1500">
                <a:solidFill>
                  <a:srgbClr val="94A3B8"/>
                </a:solidFill>
                <a:latin typeface="Segoe UI"/>
              </a:rPr>
              <a:t> — или переключите режим в меню слева сверху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2 · Опишите задачу простыми словами</a:t>
            </a:r>
            <a:r>
              <a:rPr sz="1500">
                <a:solidFill>
                  <a:srgbClr val="94A3B8"/>
                </a:solidFill>
                <a:latin typeface="Segoe UI"/>
              </a:rPr>
              <a:t> — «сделай отчёт по образцу, вот шаблон»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3 · Прикрепите файлы</a:t>
            </a:r>
            <a:r>
              <a:rPr sz="1500">
                <a:solidFill>
                  <a:srgbClr val="94A3B8"/>
                </a:solidFill>
                <a:latin typeface="Segoe UI"/>
              </a:rPr>
              <a:t> — Add files — образцы, документы, данные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▸ </a:t>
            </a:r>
            <a:r>
              <a:rPr sz="1600" b="1">
                <a:solidFill>
                  <a:srgbClr val="E5E7EB"/>
                </a:solidFill>
                <a:latin typeface="Segoe UI"/>
              </a:rPr>
              <a:t>4 · Нажмите стрелку</a:t>
            </a:r>
            <a:r>
              <a:rPr sz="1500">
                <a:solidFill>
                  <a:srgbClr val="94A3B8"/>
                </a:solidFill>
                <a:latin typeface="Segoe UI"/>
              </a:rPr>
              <a:t> — и принимайте работу: Yes / No / Keep working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344" y="1929384"/>
            <a:ext cx="4462272" cy="1229776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24344" y="1929384"/>
            <a:ext cx="4462272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ena_cha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011680"/>
            <a:ext cx="4297680" cy="1065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24344" y="3204880"/>
            <a:ext cx="446227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input://prompt + add_files → run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029200"/>
            <a:ext cx="10908792" cy="1005840"/>
          </a:xfrm>
          <a:prstGeom prst="roundRect">
            <a:avLst/>
          </a:prstGeom>
          <a:solidFill>
            <a:srgbClr val="071A14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193792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[OK]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5E7EB"/>
                </a:solidFill>
                <a:latin typeface="Segoe UI"/>
              </a:rPr>
              <a:t>Подробности — в «Инструкции по работе с AI Arena» (v1.7): 16 глав,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пошаговый раздел для новичка, кликабельные ссылки на Arena и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